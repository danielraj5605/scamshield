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99c2e1e4-56e9-0aad-9df6-61f05bb929d7}">
          <p14:sldIdLst>
            <p14:sldId id="256"/>
          </p14:sldIdLst>
        </p14:section>
        <p14:section name="Problem" id="{6c833c61-5e77-17f3-ec27-b0f0b68c77ba}">
          <p14:sldIdLst>
            <p14:sldId id="257"/>
            <p14:sldId id="258"/>
          </p14:sldIdLst>
        </p14:section>
        <p14:section name="Solution" id="{b573f68a-769e-2f26-b1f3-bc747e63eb4e}">
          <p14:sldIdLst>
            <p14:sldId id="259"/>
            <p14:sldId id="260"/>
            <p14:sldId id="261"/>
          </p14:sldIdLst>
        </p14:section>
        <p14:section name="Evidence" id="{49794a33-34d1-f9f4-9a60-890f00a0b262}">
          <p14:sldIdLst>
            <p14:sldId id="262"/>
            <p14:sldId id="263"/>
          </p14:sldIdLst>
        </p14:section>
        <p14:section name="Trust" id="{17506ab1-57e9-b177-44eb-20ebdf132214}">
          <p14:sldIdLst>
            <p14:sldId id="264"/>
          </p14:sldIdLst>
        </p14:section>
        <p14:section name="Next" id="{b60bba08-b0e5-40ad-6488-2294906b0bde}">
          <p14:sldIdLst>
            <p14:sldId id="265"/>
          </p14:sldIdLst>
        </p14:section>
        <p14:section name="Close" id="{a35784ec-304a-85e1-6350-a17166959cd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6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1616"/>
                </a:solidFill>
                <a:latin typeface="+mn-lt"/>
              </a:rPr>
              <a:t>Messages scored per second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1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worker</c:v>
                  </c:pt>
                  <c:pt idx="1">
                    <c:v>2 workers</c:v>
                  </c:pt>
                  <c:pt idx="2">
                    <c:v>3 workers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604</c:v>
                </c:pt>
                <c:pt idx="1">
                  <c:v>1023</c:v>
                </c:pt>
                <c:pt idx="2">
                  <c:v>609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2</c:v>
                </c:pt>
              </c:strCache>
            </c:strRef>
          </c:tx>
          <c:spPr>
            <a:solidFill>
              <a:srgbClr val="8D8D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worker</c:v>
                  </c:pt>
                  <c:pt idx="1">
                    <c:v>2 workers</c:v>
                  </c:pt>
                  <c:pt idx="2">
                    <c:v>3 workers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589</c:v>
                </c:pt>
                <c:pt idx="1">
                  <c:v>1014</c:v>
                </c:pt>
                <c:pt idx="2">
                  <c:v>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16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25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technology. ScamShield checks a text or WhatsApp message and gives one of three results, shown here. Team names go here when added. Timing: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problem. Scam messages copy banks, couriers and officials, and they work best on people who are not used to spotting them. After an OTP is shared or a UPI request approved, the money is usually gone. If a team member has a real story from their own family, tell that instead, in their own words. Do not invent one.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spam filter says spam but not why. Many link checkers upload the message or link to an outside service. ScamShield explains why, never opens a link, and does not store the message. Timing: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result screen, redrawn. You paste a message. In milliseconds you get a risk level, the reasons in plain words, your own message with the risky words marked, and the steps to take. It never stores the message and never opens a link. Timing: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this order and say one sentence for each. 1: this is the IBM mainframe the whole system runs on. 2: a real OTP message says not to share it and has no link, and many filters get this wrong. 3: the link pretends to be SBI but the real address is something else. 4: not every scam has a link, this one uses a threat. 5: a family member can paste the summary into a chat. Timing: 100 seconds. If anything fails, play the recorded demo and say clearly that it is a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 is cleaned first, so disguised letters are read as the word they imitate. Four checks run side by side: two wording models, one of them a small neural network trained from scratch; a link model that judges the address only; and 23 signals for known patterns. A small model combines them. Five safety rules always force a high-risk result, such as asking for your OTP.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ran on the mainframe: data preparation, training in about 11 minutes, testing and serving. All 74 tests pass there. We scored 10,000 new messages on it: about 590 to 600 messages a second on one processor and about 1,015 to 1,025 with two, across two runs. A third processor did not help reliably on this 3-processor virtual machine, which also runs the web app, and results vary between runs because the VM is shared. The server has an on-chip AI accelerator, but our models run on the ordinary processors, so we do not claim it. The use case is a bank or telecom scanning messages next to its own systems without sending them to an outside cloud. We have not tested at bank scale. Timing: 35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 before a judge has to ask. On 916 unseen public messages, 96.9 percent of scams were rated high risk and 0.5 percent of genuine messages were wrongly rated high. On 461 Indian-context messages the team wrote, all scams were caught but 6.2 percent of genuine messages were over-flagged. About 4.5 percent of genuine bank messages were over-flagged on the main test, and under 1 percent on average over five other splits. The Indian-context set was written by us, so it is not fully independent. Measured on the LinuxONE server on 18 October 2026. Timing: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 is held in memory and discarded, and logs hold only length, level and timing. Feedback stores a one-way hash. Links are never opened and the site loads nothing from outside. ScamShield advises, it does not decide. The privacy page lists all of this exactly. Timing: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the limits: English only, dated public data, Indian coverage from our own templates, new scripts can be missed, and no real-user testing yet. Next steps: real-user tests, a blind set from people outside the team, regional languages, screenshot input and a batch service for a bank or telecom. Timing: 25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ScamShield does not block anything and can be wrong, so it advises and does not decide. The code, the evidence and the measured results are public. Timing: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ScamShield | IBM Z Datathon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ScamShield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message for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warning signs</a:t>
            </a:r>
            <a:endParaRPr lang="en-US" sz="2200" dirty="0"/>
          </a:p>
        </p:txBody>
      </p:sp>
      <p:sp>
        <p:nvSpPr>
          <p:cNvPr id="4" name="Event line"/>
          <p:cNvSpPr txBox="1"/>
          <p:nvPr/>
        </p:nvSpPr>
        <p:spPr>
          <a:xfrm>
            <a:off x="54864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Z Datathon 2026. Trained and run on IBM LinuxONE.</a:t>
            </a:r>
            <a:endParaRPr lang="en-US" sz="1400" dirty="0"/>
          </a:p>
        </p:txBody>
      </p:sp>
      <p:sp>
        <p:nvSpPr>
          <p:cNvPr id="5" name="Repository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github.com/Danielraj5605/ScamShield</a:t>
            </a:r>
            <a:endParaRPr lang="en-US" sz="1200" dirty="0"/>
          </a:p>
        </p:txBody>
      </p:sp>
      <p:sp>
        <p:nvSpPr>
          <p:cNvPr id="6" name="Verdict high"/>
          <p:cNvSpPr/>
          <p:nvPr/>
        </p:nvSpPr>
        <p:spPr>
          <a:xfrm>
            <a:off x="5394960" y="914400"/>
            <a:ext cx="32918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Verdict high text"/>
          <p:cNvSpPr txBox="1"/>
          <p:nvPr/>
        </p:nvSpPr>
        <p:spPr>
          <a:xfrm>
            <a:off x="5577840" y="914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signs of a scam</a:t>
            </a:r>
            <a:endParaRPr lang="en-US" sz="1800" dirty="0"/>
          </a:p>
        </p:txBody>
      </p:sp>
      <p:sp>
        <p:nvSpPr>
          <p:cNvPr id="8" name="Verdict medium"/>
          <p:cNvSpPr/>
          <p:nvPr/>
        </p:nvSpPr>
        <p:spPr>
          <a:xfrm>
            <a:off x="5394960" y="2011680"/>
            <a:ext cx="3291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Verdict medium text"/>
          <p:cNvSpPr txBox="1"/>
          <p:nvPr/>
        </p:nvSpPr>
        <p:spPr>
          <a:xfrm>
            <a:off x="5577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warning signs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</a:t>
            </a:r>
            <a:endParaRPr lang="en-US" sz="1800" dirty="0"/>
          </a:p>
        </p:txBody>
      </p:sp>
      <p:sp>
        <p:nvSpPr>
          <p:cNvPr id="10" name="Verdict low"/>
          <p:cNvSpPr/>
          <p:nvPr/>
        </p:nvSpPr>
        <p:spPr>
          <a:xfrm>
            <a:off x="5394960" y="3108960"/>
            <a:ext cx="3291840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Verdict low text"/>
          <p:cNvSpPr txBox="1"/>
          <p:nvPr/>
        </p:nvSpPr>
        <p:spPr>
          <a:xfrm>
            <a:off x="557784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common warning signs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guarantee safety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Problem points"/>
          <p:cNvSpPr txBox="1"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messages copy banks, couriers and officials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work best on people who are not used to spotting them: older people and first-time smartphone users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an OTP is shared or a UPI request is approved, the money is usually gone</a:t>
            </a:r>
            <a:endParaRPr lang="en-US" sz="1600" dirty="0"/>
          </a:p>
        </p:txBody>
      </p:sp>
      <p:sp>
        <p:nvSpPr>
          <p:cNvPr id="4" name="Message card"/>
          <p:cNvSpPr/>
          <p:nvPr/>
        </p:nvSpPr>
        <p:spPr>
          <a:xfrm>
            <a:off x="4937760" y="1280160"/>
            <a:ext cx="3749040" cy="2651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Card label"/>
          <p:cNvSpPr txBox="1"/>
          <p:nvPr/>
        </p:nvSpPr>
        <p:spPr>
          <a:xfrm>
            <a:off x="51206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scam message</a:t>
            </a:r>
            <a:endParaRPr lang="en-US" sz="1100" dirty="0"/>
          </a:p>
        </p:txBody>
      </p:sp>
      <p:sp>
        <p:nvSpPr>
          <p:cNvPr id="6" name="Card message"/>
          <p:cNvSpPr txBox="1"/>
          <p:nvPr/>
        </p:nvSpPr>
        <p:spPr>
          <a:xfrm>
            <a:off x="5120640" y="1737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 your SBI KYC expires today. Update now: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http://sbi-kyc-update.top/login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your account will be blocked</a:t>
            </a:r>
            <a:endParaRPr lang="en-US" sz="1500" dirty="0"/>
          </a:p>
        </p:txBody>
      </p:sp>
      <p:sp>
        <p:nvSpPr>
          <p:cNvPr id="7" name="Card caption"/>
          <p:cNvSpPr txBox="1"/>
          <p:nvPr/>
        </p:nvSpPr>
        <p:spPr>
          <a:xfrm>
            <a:off x="512064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ScamShield demo set. The link is not an SBI address.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tools fall short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371600"/>
            <a:ext cx="256032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1 text"/>
          <p:cNvSpPr txBox="1"/>
          <p:nvPr/>
        </p:nvSpPr>
        <p:spPr>
          <a:xfrm>
            <a:off x="685800" y="16002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"spam" but not why, so nobody learns to recognise the next scam.</a:t>
            </a:r>
            <a:endParaRPr lang="en-US" sz="2000" dirty="0"/>
          </a:p>
        </p:txBody>
      </p:sp>
      <p:sp>
        <p:nvSpPr>
          <p:cNvPr id="5" name="Card 2"/>
          <p:cNvSpPr/>
          <p:nvPr/>
        </p:nvSpPr>
        <p:spPr>
          <a:xfrm>
            <a:off x="3291840" y="1371600"/>
            <a:ext cx="256032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2 text"/>
          <p:cNvSpPr txBox="1"/>
          <p:nvPr/>
        </p:nvSpPr>
        <p:spPr>
          <a:xfrm>
            <a:off x="3520440" y="16002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checker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uploads the message or link to an outside service, so private conversations leave the phone.</a:t>
            </a:r>
            <a:endParaRPr lang="en-US" sz="2000" dirty="0"/>
          </a:p>
        </p:txBody>
      </p:sp>
      <p:sp>
        <p:nvSpPr>
          <p:cNvPr id="7" name="Card 3"/>
          <p:cNvSpPr/>
          <p:nvPr/>
        </p:nvSpPr>
        <p:spPr>
          <a:xfrm>
            <a:off x="6126480" y="1371600"/>
            <a:ext cx="2560320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 3 text"/>
          <p:cNvSpPr txBox="1"/>
          <p:nvPr/>
        </p:nvSpPr>
        <p:spPr>
          <a:xfrm>
            <a:off x="6355080" y="16002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ScamShield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the reasons. Never opens a link. Does not store the message.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ScamShield does</a:t>
            </a:r>
            <a:endParaRPr lang="en-US" sz="3200" dirty="0"/>
          </a:p>
        </p:txBody>
      </p:sp>
      <p:sp>
        <p:nvSpPr>
          <p:cNvPr id="3" name="Outputs"/>
          <p:cNvSpPr txBox="1"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level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High, medium or low, in a few milliseconds</a:t>
            </a:r>
            <a:endParaRPr lang="en-US" sz="1500" dirty="0"/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reasons in plain words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people who are not technical</a:t>
            </a:r>
            <a:endParaRPr lang="en-US" sz="1500" dirty="0"/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message, marked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words highlighted, links made unclickable</a:t>
            </a:r>
            <a:endParaRPr lang="en-US" sz="1500" dirty="0"/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steps, including who to report to</a:t>
            </a:r>
            <a:endParaRPr lang="en-US" sz="1500" dirty="0"/>
          </a:p>
        </p:txBody>
      </p:sp>
      <p:sp>
        <p:nvSpPr>
          <p:cNvPr id="4" name="Result panel"/>
          <p:cNvSpPr/>
          <p:nvPr/>
        </p:nvSpPr>
        <p:spPr>
          <a:xfrm>
            <a:off x="4846320" y="1280160"/>
            <a:ext cx="3840480" cy="297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Result verdict"/>
          <p:cNvSpPr/>
          <p:nvPr/>
        </p:nvSpPr>
        <p:spPr>
          <a:xfrm>
            <a:off x="4983480" y="1417320"/>
            <a:ext cx="3566160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Result verdict text"/>
          <p:cNvSpPr txBox="1"/>
          <p:nvPr/>
        </p:nvSpPr>
        <p:spPr>
          <a:xfrm>
            <a:off x="5166360" y="1417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message shows strong signs of a scam.</a:t>
            </a:r>
            <a:endParaRPr lang="en-US" sz="1800" dirty="0"/>
          </a:p>
        </p:txBody>
      </p:sp>
      <p:sp>
        <p:nvSpPr>
          <p:cNvPr id="7" name="Scale Low"/>
          <p:cNvSpPr/>
          <p:nvPr/>
        </p:nvSpPr>
        <p:spPr>
          <a:xfrm>
            <a:off x="4983480" y="2377440"/>
            <a:ext cx="1152144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cale text Low"/>
          <p:cNvSpPr txBox="1"/>
          <p:nvPr/>
        </p:nvSpPr>
        <p:spPr>
          <a:xfrm>
            <a:off x="4983480" y="237744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9" name="Scale Medium"/>
          <p:cNvSpPr/>
          <p:nvPr/>
        </p:nvSpPr>
        <p:spPr>
          <a:xfrm>
            <a:off x="6190488" y="2377440"/>
            <a:ext cx="1152144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ale text Medium"/>
          <p:cNvSpPr txBox="1"/>
          <p:nvPr/>
        </p:nvSpPr>
        <p:spPr>
          <a:xfrm>
            <a:off x="6190488" y="237744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1" name="Scale High"/>
          <p:cNvSpPr/>
          <p:nvPr/>
        </p:nvSpPr>
        <p:spPr>
          <a:xfrm>
            <a:off x="7397496" y="2377440"/>
            <a:ext cx="1152144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cale text High"/>
          <p:cNvSpPr txBox="1"/>
          <p:nvPr/>
        </p:nvSpPr>
        <p:spPr>
          <a:xfrm>
            <a:off x="7397496" y="237744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3" name="Action box"/>
          <p:cNvSpPr/>
          <p:nvPr/>
        </p:nvSpPr>
        <p:spPr>
          <a:xfrm>
            <a:off x="4983480" y="2834640"/>
            <a:ext cx="3566160" cy="1280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Action text"/>
          <p:cNvSpPr txBox="1"/>
          <p:nvPr/>
        </p:nvSpPr>
        <p:spPr>
          <a:xfrm>
            <a:off x="512064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now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your bank's official app or visit a branch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Report: call 1930 or visit cybercrime.gov.in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Demo steps"/>
          <p:cNvSpPr txBox="1"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server: uname -m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bank OTP: low 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KYC alert: high risk, link marked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arrest call: high risk with no link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now, then Copy summary</a:t>
            </a:r>
            <a:endParaRPr lang="en-US" sz="1600" dirty="0"/>
          </a:p>
        </p:txBody>
      </p:sp>
      <p:sp>
        <p:nvSpPr>
          <p:cNvPr id="4" name="Terminal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4937760" y="141732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s390x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localhost:8000/api/health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{"arch":"s390x",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"byteorder":"big",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"cpus":3, ...}</a:t>
            </a:r>
            <a:endParaRPr lang="en-US" sz="1300" dirty="0"/>
          </a:p>
        </p:txBody>
      </p:sp>
      <p:sp>
        <p:nvSpPr>
          <p:cNvPr id="6" name="Terminal caption"/>
          <p:cNvSpPr txBox="1"/>
          <p:nvPr/>
        </p:nvSpPr>
        <p:spPr>
          <a:xfrm>
            <a:off x="475488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from the project's LinuxONE server, trimmed for the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tep message"/>
          <p:cNvSpPr/>
          <p:nvPr/>
        </p:nvSpPr>
        <p:spPr>
          <a:xfrm>
            <a:off x="457200" y="2103120"/>
            <a:ext cx="118872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ep message text"/>
          <p:cNvSpPr txBox="1"/>
          <p:nvPr/>
        </p:nvSpPr>
        <p:spPr>
          <a:xfrm>
            <a:off x="54864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pasted</a:t>
            </a:r>
            <a:endParaRPr lang="en-US" sz="1200" dirty="0"/>
          </a:p>
        </p:txBody>
      </p:sp>
      <p:sp>
        <p:nvSpPr>
          <p:cNvPr id="5" name="Step clean"/>
          <p:cNvSpPr/>
          <p:nvPr/>
        </p:nvSpPr>
        <p:spPr>
          <a:xfrm>
            <a:off x="1920240" y="2103120"/>
            <a:ext cx="118872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tep clean text"/>
          <p:cNvSpPr txBox="1"/>
          <p:nvPr/>
        </p:nvSpPr>
        <p:spPr>
          <a:xfrm>
            <a:off x="201168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cleaned</a:t>
            </a:r>
            <a:endParaRPr lang="en-US" sz="1200" dirty="0"/>
          </a:p>
        </p:txBody>
      </p:sp>
      <p:sp>
        <p:nvSpPr>
          <p:cNvPr id="7" name="Check 1"/>
          <p:cNvSpPr/>
          <p:nvPr/>
        </p:nvSpPr>
        <p:spPr>
          <a:xfrm>
            <a:off x="3383280" y="1234440"/>
            <a:ext cx="192024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heck 1 text"/>
          <p:cNvSpPr txBox="1"/>
          <p:nvPr/>
        </p:nvSpPr>
        <p:spPr>
          <a:xfrm>
            <a:off x="3474720" y="1234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 model: TF-IDF</a:t>
            </a:r>
            <a:endParaRPr lang="en-US" sz="1200" dirty="0"/>
          </a:p>
        </p:txBody>
      </p:sp>
      <p:sp>
        <p:nvSpPr>
          <p:cNvPr id="9" name="Check 2"/>
          <p:cNvSpPr/>
          <p:nvPr/>
        </p:nvSpPr>
        <p:spPr>
          <a:xfrm>
            <a:off x="3383280" y="2011680"/>
            <a:ext cx="192024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eck 2 text"/>
          <p:cNvSpPr txBox="1"/>
          <p:nvPr/>
        </p:nvSpPr>
        <p:spPr>
          <a:xfrm>
            <a:off x="347472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 model: neural network</a:t>
            </a:r>
            <a:endParaRPr lang="en-US" sz="1200" dirty="0"/>
          </a:p>
        </p:txBody>
      </p:sp>
      <p:sp>
        <p:nvSpPr>
          <p:cNvPr id="11" name="Check 3"/>
          <p:cNvSpPr/>
          <p:nvPr/>
        </p:nvSpPr>
        <p:spPr>
          <a:xfrm>
            <a:off x="3383280" y="2788920"/>
            <a:ext cx="192024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eck 3 text"/>
          <p:cNvSpPr txBox="1"/>
          <p:nvPr/>
        </p:nvSpPr>
        <p:spPr>
          <a:xfrm>
            <a:off x="347472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model: address only</a:t>
            </a:r>
            <a:endParaRPr lang="en-US" sz="1200" dirty="0"/>
          </a:p>
        </p:txBody>
      </p:sp>
      <p:sp>
        <p:nvSpPr>
          <p:cNvPr id="13" name="Check 4"/>
          <p:cNvSpPr/>
          <p:nvPr/>
        </p:nvSpPr>
        <p:spPr>
          <a:xfrm>
            <a:off x="3383280" y="3566160"/>
            <a:ext cx="192024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heck 4 text"/>
          <p:cNvSpPr txBox="1"/>
          <p:nvPr/>
        </p:nvSpPr>
        <p:spPr>
          <a:xfrm>
            <a:off x="347472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signals for known patterns</a:t>
            </a:r>
            <a:endParaRPr lang="en-US" sz="1200" dirty="0"/>
          </a:p>
        </p:txBody>
      </p:sp>
      <p:sp>
        <p:nvSpPr>
          <p:cNvPr id="15" name="Step combine"/>
          <p:cNvSpPr/>
          <p:nvPr/>
        </p:nvSpPr>
        <p:spPr>
          <a:xfrm>
            <a:off x="5577840" y="2103120"/>
            <a:ext cx="1371600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tep combine text"/>
          <p:cNvSpPr txBox="1"/>
          <p:nvPr/>
        </p:nvSpPr>
        <p:spPr>
          <a:xfrm>
            <a:off x="5669280" y="2103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by a learned model</a:t>
            </a:r>
            <a:endParaRPr lang="en-US" sz="1200" dirty="0"/>
          </a:p>
        </p:txBody>
      </p:sp>
      <p:sp>
        <p:nvSpPr>
          <p:cNvPr id="17" name="Step result"/>
          <p:cNvSpPr/>
          <p:nvPr/>
        </p:nvSpPr>
        <p:spPr>
          <a:xfrm>
            <a:off x="7223760" y="2103120"/>
            <a:ext cx="146304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tep result text"/>
          <p:cNvSpPr txBox="1"/>
          <p:nvPr/>
        </p:nvSpPr>
        <p:spPr>
          <a:xfrm>
            <a:off x="7315200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level, reasons, steps</a:t>
            </a:r>
            <a:endParaRPr lang="en-US" sz="1200" dirty="0"/>
          </a:p>
        </p:txBody>
      </p:sp>
      <p:sp>
        <p:nvSpPr>
          <p:cNvPr id="19" name="Arrow"/>
          <p:cNvSpPr/>
          <p:nvPr/>
        </p:nvSpPr>
        <p:spPr>
          <a:xfrm>
            <a:off x="1645920" y="251460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Bus in"/>
          <p:cNvSpPr/>
          <p:nvPr/>
        </p:nvSpPr>
        <p:spPr>
          <a:xfrm>
            <a:off x="3246120" y="1554480"/>
            <a:ext cx="0" cy="2331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1" name="Bus link"/>
          <p:cNvSpPr/>
          <p:nvPr/>
        </p:nvSpPr>
        <p:spPr>
          <a:xfrm>
            <a:off x="3108960" y="251460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2" name="Arrow"/>
          <p:cNvSpPr/>
          <p:nvPr/>
        </p:nvSpPr>
        <p:spPr>
          <a:xfrm>
            <a:off x="3246120" y="155448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3246120" y="233172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3246120" y="310896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3246120" y="388620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Bus out"/>
          <p:cNvSpPr/>
          <p:nvPr/>
        </p:nvSpPr>
        <p:spPr>
          <a:xfrm>
            <a:off x="5440680" y="1554480"/>
            <a:ext cx="0" cy="2331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7" name="Out 0"/>
          <p:cNvSpPr/>
          <p:nvPr/>
        </p:nvSpPr>
        <p:spPr>
          <a:xfrm>
            <a:off x="5303520" y="155448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8" name="Out 1"/>
          <p:cNvSpPr/>
          <p:nvPr/>
        </p:nvSpPr>
        <p:spPr>
          <a:xfrm>
            <a:off x="5303520" y="233172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9" name="Out 2"/>
          <p:cNvSpPr/>
          <p:nvPr/>
        </p:nvSpPr>
        <p:spPr>
          <a:xfrm>
            <a:off x="5303520" y="310896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0" name="Out 3"/>
          <p:cNvSpPr/>
          <p:nvPr/>
        </p:nvSpPr>
        <p:spPr>
          <a:xfrm>
            <a:off x="5303520" y="388620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1" name="Arrow"/>
          <p:cNvSpPr/>
          <p:nvPr/>
        </p:nvSpPr>
        <p:spPr>
          <a:xfrm>
            <a:off x="5440680" y="2514600"/>
            <a:ext cx="137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6949440" y="251460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Safety rules caption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safety rules always force a high-risk result, for example a request to share your OTP.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mainframe</a:t>
            </a:r>
            <a:endParaRPr lang="en-US" sz="3200" dirty="0"/>
          </a:p>
        </p:txBody>
      </p:sp>
      <p:sp>
        <p:nvSpPr>
          <p:cNvPr id="3" name="LinuxONE facts"/>
          <p:cNvSpPr txBox="1"/>
          <p:nvPr/>
        </p:nvSpPr>
        <p:spPr>
          <a:xfrm>
            <a:off x="457200" y="12344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Trained, tested and served on an IBM LinuxONE VM (IBM z17, s390x, 3 processors, 8 GB)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took about 11 minutes. All 74 tests pass there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server because s390x stores numbers differently from a laptop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on-chip AI accelerator is visible but not used, so we do not claim 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663440" y="118872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caption"/>
          <p:cNvSpPr txBox="1"/>
          <p:nvPr/>
        </p:nvSpPr>
        <p:spPr>
          <a:xfrm>
            <a:off x="466344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new messages, two runs. A third worker added nothing on this shared 3-processor VM.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with their limits</a:t>
            </a:r>
            <a:endParaRPr lang="en-US" sz="3200" dirty="0"/>
          </a:p>
        </p:txBody>
      </p:sp>
      <p:sp>
        <p:nvSpPr>
          <p:cNvPr id="3" name="Set 1 head"/>
          <p:cNvSpPr txBox="1"/>
          <p:nvPr/>
        </p:nvSpPr>
        <p:spPr>
          <a:xfrm>
            <a:off x="457200" y="1188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text-message data, 916 messages</a:t>
            </a:r>
            <a:endParaRPr lang="en-US" sz="1400" dirty="0"/>
          </a:p>
        </p:txBody>
      </p:sp>
      <p:sp>
        <p:nvSpPr>
          <p:cNvPr id="4" name="Stat 1"/>
          <p:cNvSpPr txBox="1"/>
          <p:nvPr/>
        </p:nvSpPr>
        <p:spPr>
          <a:xfrm>
            <a:off x="45720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96.9%</a:t>
            </a:r>
            <a:endParaRPr lang="en-US" sz="4800" dirty="0"/>
          </a:p>
        </p:txBody>
      </p:sp>
      <p:sp>
        <p:nvSpPr>
          <p:cNvPr id="5" name="Stat 1 label"/>
          <p:cNvSpPr txBox="1"/>
          <p:nvPr/>
        </p:nvSpPr>
        <p:spPr>
          <a:xfrm>
            <a:off x="457200" y="2587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scams rated high risk</a:t>
            </a:r>
            <a:endParaRPr lang="en-US" sz="1200" dirty="0"/>
          </a:p>
        </p:txBody>
      </p:sp>
      <p:sp>
        <p:nvSpPr>
          <p:cNvPr id="6" name="Stat 2"/>
          <p:cNvSpPr txBox="1"/>
          <p:nvPr/>
        </p:nvSpPr>
        <p:spPr>
          <a:xfrm>
            <a:off x="256032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4800" dirty="0"/>
          </a:p>
        </p:txBody>
      </p:sp>
      <p:sp>
        <p:nvSpPr>
          <p:cNvPr id="7" name="Stat 2 label"/>
          <p:cNvSpPr txBox="1"/>
          <p:nvPr/>
        </p:nvSpPr>
        <p:spPr>
          <a:xfrm>
            <a:off x="2560320" y="2587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genuine messages wrongly rated high risk</a:t>
            </a:r>
            <a:endParaRPr lang="en-US" sz="1200" dirty="0"/>
          </a:p>
        </p:txBody>
      </p:sp>
      <p:sp>
        <p:nvSpPr>
          <p:cNvPr id="8" name="Set 2 head"/>
          <p:cNvSpPr txBox="1"/>
          <p:nvPr/>
        </p:nvSpPr>
        <p:spPr>
          <a:xfrm>
            <a:off x="4663440" y="1188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Indian-context messages written by the team, 461 messages</a:t>
            </a:r>
            <a:endParaRPr lang="en-US" sz="1400" dirty="0"/>
          </a:p>
        </p:txBody>
      </p:sp>
      <p:sp>
        <p:nvSpPr>
          <p:cNvPr id="9" name="Stat 3"/>
          <p:cNvSpPr txBox="1"/>
          <p:nvPr/>
        </p:nvSpPr>
        <p:spPr>
          <a:xfrm>
            <a:off x="466344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Stat 3 label"/>
          <p:cNvSpPr txBox="1"/>
          <p:nvPr/>
        </p:nvSpPr>
        <p:spPr>
          <a:xfrm>
            <a:off x="4663440" y="2587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scams rated high risk</a:t>
            </a:r>
            <a:endParaRPr lang="en-US" sz="1200" dirty="0"/>
          </a:p>
        </p:txBody>
      </p:sp>
      <p:sp>
        <p:nvSpPr>
          <p:cNvPr id="11" name="Stat 4"/>
          <p:cNvSpPr txBox="1"/>
          <p:nvPr/>
        </p:nvSpPr>
        <p:spPr>
          <a:xfrm>
            <a:off x="67665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4800" dirty="0"/>
          </a:p>
        </p:txBody>
      </p:sp>
      <p:sp>
        <p:nvSpPr>
          <p:cNvPr id="12" name="Stat 4 label"/>
          <p:cNvSpPr txBox="1"/>
          <p:nvPr/>
        </p:nvSpPr>
        <p:spPr>
          <a:xfrm>
            <a:off x="6766560" y="2587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genuine messages wrongly rated high risk</a:t>
            </a:r>
            <a:endParaRPr lang="en-US" sz="1200" dirty="0"/>
          </a:p>
        </p:txBody>
      </p:sp>
      <p:sp>
        <p:nvSpPr>
          <p:cNvPr id="13" name="Limits box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s text"/>
          <p:cNvSpPr txBox="1"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public data the full system matches a plain wording model (0.987 vs 0.988 PR-AUC)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4.5% of genuine bank messages were over-flagged on the main test (6 of 132)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set was written by the team, so it is not fully independent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responsible use</a:t>
            </a:r>
            <a:endParaRPr lang="en-US" sz="3200" dirty="0"/>
          </a:p>
        </p:txBody>
      </p:sp>
      <p:sp>
        <p:nvSpPr>
          <p:cNvPr id="3" name="Trust card 1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ust text 1"/>
          <p:cNvSpPr txBox="1"/>
          <p:nvPr/>
        </p:nvSpPr>
        <p:spPr>
          <a:xfrm>
            <a:off x="64008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stored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is held in memory and discarded. Logs keep only length, risk level and timing.</a:t>
            </a:r>
            <a:endParaRPr lang="en-US" sz="1700" dirty="0"/>
          </a:p>
        </p:txBody>
      </p:sp>
      <p:sp>
        <p:nvSpPr>
          <p:cNvPr id="5" name="Trust card 2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rust text 2"/>
          <p:cNvSpPr txBox="1"/>
          <p:nvPr/>
        </p:nvSpPr>
        <p:spPr>
          <a:xfrm>
            <a:off x="484632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never opened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link is judged by its address. Nothing is visited.</a:t>
            </a:r>
            <a:endParaRPr lang="en-US" sz="1700" dirty="0"/>
          </a:p>
        </p:txBody>
      </p:sp>
      <p:sp>
        <p:nvSpPr>
          <p:cNvPr id="7" name="Trust card 3"/>
          <p:cNvSpPr/>
          <p:nvPr/>
        </p:nvSpPr>
        <p:spPr>
          <a:xfrm>
            <a:off x="457200" y="28803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rust text 3"/>
          <p:cNvSpPr txBox="1"/>
          <p:nvPr/>
        </p:nvSpPr>
        <p:spPr>
          <a:xfrm>
            <a:off x="640080" y="2971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only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ScamShield never blocks or deletes anything. It can be wrong in both directions.</a:t>
            </a:r>
            <a:endParaRPr lang="en-US" sz="1700" dirty="0"/>
          </a:p>
        </p:txBody>
      </p:sp>
      <p:sp>
        <p:nvSpPr>
          <p:cNvPr id="9" name="Trust card 4"/>
          <p:cNvSpPr/>
          <p:nvPr/>
        </p:nvSpPr>
        <p:spPr>
          <a:xfrm>
            <a:off x="4663440" y="28803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rust text 4"/>
          <p:cNvSpPr txBox="1"/>
          <p:nvPr/>
        </p:nvSpPr>
        <p:spPr>
          <a:xfrm>
            <a:off x="4846320" y="2971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 is optional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switched on, it sees scrubbed text only and cannot change the risk level.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next steps</a:t>
            </a:r>
            <a:endParaRPr lang="en-US" sz="3200" dirty="0"/>
          </a:p>
        </p:txBody>
      </p:sp>
      <p:sp>
        <p:nvSpPr>
          <p:cNvPr id="3" name="Limits head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imits head text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5" name="Limits list"/>
          <p:cNvSpPr txBox="1"/>
          <p:nvPr/>
        </p:nvSpPr>
        <p:spPr>
          <a:xfrm>
            <a:off x="457200" y="18745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public training data dates from about 2012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coverage relies on templates the team wrote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scam scripts with no familiar signs can be missed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tested with real users or at bank scale</a:t>
            </a:r>
            <a:endParaRPr lang="en-US" sz="1400" dirty="0"/>
          </a:p>
        </p:txBody>
      </p:sp>
      <p:sp>
        <p:nvSpPr>
          <p:cNvPr id="6" name="Next head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ext head text"/>
          <p:cNvSpPr txBox="1"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Next list"/>
          <p:cNvSpPr txBox="1"/>
          <p:nvPr/>
        </p:nvSpPr>
        <p:spPr>
          <a:xfrm>
            <a:off x="4663440" y="18745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real users and publish what we learn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blind set written by people outside the team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languages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input for WhatsApp messages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batch service for a bank or telecom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statement"/>
          <p:cNvSpPr txBox="1"/>
          <p:nvPr/>
        </p:nvSpPr>
        <p:spPr>
          <a:xfrm>
            <a:off x="548640" y="1097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ScamShield advises.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decide.</a:t>
            </a:r>
            <a:endParaRPr lang="en-US" sz="3600" dirty="0"/>
          </a:p>
        </p:txBody>
      </p:sp>
      <p:sp>
        <p:nvSpPr>
          <p:cNvPr id="3" name="Closing lead"/>
          <p:cNvSpPr txBox="1"/>
          <p:nvPr/>
        </p:nvSpPr>
        <p:spPr>
          <a:xfrm>
            <a:off x="5486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evidence and measured results are public:</a:t>
            </a:r>
            <a:endParaRPr lang="en-US" sz="1400" dirty="0"/>
          </a:p>
        </p:txBody>
      </p:sp>
      <p:sp>
        <p:nvSpPr>
          <p:cNvPr id="4" name="Closing repository"/>
          <p:cNvSpPr txBox="1"/>
          <p:nvPr/>
        </p:nvSpPr>
        <p:spPr>
          <a:xfrm>
            <a:off x="5486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github.com/Danielraj5605/ScamShield</a:t>
            </a:r>
            <a:endParaRPr lang="en-US" sz="1600" dirty="0"/>
          </a:p>
        </p:txBody>
      </p:sp>
      <p:sp>
        <p:nvSpPr>
          <p:cNvPr id="5" name="Helpline"/>
          <p:cNvSpPr txBox="1"/>
          <p:nvPr/>
        </p:nvSpPr>
        <p:spPr>
          <a:xfrm>
            <a:off x="54864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lost money to fraud in India, call 1930 or report at cybercrime.gov.in.</a:t>
            </a:r>
            <a:endParaRPr lang="en-US" sz="1200" dirty="0"/>
          </a:p>
        </p:txBody>
      </p:sp>
      <p:sp>
        <p:nvSpPr>
          <p:cNvPr id="6" name="Closing high"/>
          <p:cNvSpPr/>
          <p:nvPr/>
        </p:nvSpPr>
        <p:spPr>
          <a:xfrm>
            <a:off x="5394960" y="914400"/>
            <a:ext cx="32918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losing high text"/>
          <p:cNvSpPr txBox="1"/>
          <p:nvPr/>
        </p:nvSpPr>
        <p:spPr>
          <a:xfrm>
            <a:off x="5577840" y="914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in plain words</a:t>
            </a:r>
            <a:endParaRPr lang="en-US" sz="1800" dirty="0"/>
          </a:p>
        </p:txBody>
      </p:sp>
      <p:sp>
        <p:nvSpPr>
          <p:cNvPr id="8" name="Closing medium"/>
          <p:cNvSpPr/>
          <p:nvPr/>
        </p:nvSpPr>
        <p:spPr>
          <a:xfrm>
            <a:off x="5394960" y="2011680"/>
            <a:ext cx="3291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losing medium text"/>
          <p:cNvSpPr txBox="1"/>
          <p:nvPr/>
        </p:nvSpPr>
        <p:spPr>
          <a:xfrm>
            <a:off x="5577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warning signs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steps to take</a:t>
            </a:r>
            <a:endParaRPr lang="en-US" sz="1800" dirty="0"/>
          </a:p>
        </p:txBody>
      </p:sp>
      <p:sp>
        <p:nvSpPr>
          <p:cNvPr id="10" name="Closing low"/>
          <p:cNvSpPr/>
          <p:nvPr/>
        </p:nvSpPr>
        <p:spPr>
          <a:xfrm>
            <a:off x="5394960" y="3108960"/>
            <a:ext cx="3291840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losing low text"/>
          <p:cNvSpPr txBox="1"/>
          <p:nvPr/>
        </p:nvSpPr>
        <p:spPr>
          <a:xfrm>
            <a:off x="557784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common warning signs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claiming it is safe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mShield">
  <a:themeElements>
    <a:clrScheme name="ScamShield">
      <a:dk1>
        <a:srgbClr val="161616"/>
      </a:dk1>
      <a:lt1>
        <a:srgbClr val="FFFFFF"/>
      </a:lt1>
      <a:dk2>
        <a:srgbClr val="393939"/>
      </a:dk2>
      <a:lt2>
        <a:srgbClr val="F4F4F4"/>
      </a:lt2>
      <a:accent1>
        <a:srgbClr val="0F62FE"/>
      </a:accent1>
      <a:accent2>
        <a:srgbClr val="DA1E28"/>
      </a:accent2>
      <a:accent3>
        <a:srgbClr val="198038"/>
      </a:accent3>
      <a:accent4>
        <a:srgbClr val="F1C21B"/>
      </a:accent4>
      <a:accent5>
        <a:srgbClr val="525252"/>
      </a:accent5>
      <a:accent6>
        <a:srgbClr val="78A9FF"/>
      </a:accent6>
      <a:hlink>
        <a:srgbClr val="0F62FE"/>
      </a:hlink>
      <a:folHlink>
        <a:srgbClr val="525252"/>
      </a:folHlink>
    </a:clrScheme>
    <a:fontScheme name="ScamShie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ScamShield: pitch deck</dc:title>
  <dc:subject>IBM Z Datathon 2026</dc:subject>
  <dc:creator>PptxGenJS</dc:creator>
  <cp:lastModifiedBy>PptxGenJS</cp:lastModifiedBy>
  <cp:revision>1</cp:revision>
  <dcterms:created xsi:type="dcterms:W3CDTF">2026-10-18T14:20:48Z</dcterms:created>
  <dcterms:modified xsi:type="dcterms:W3CDTF">2026-10-18T14:20:48Z</dcterms:modified>
</cp:coreProperties>
</file>